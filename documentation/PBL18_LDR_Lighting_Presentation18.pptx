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2" r:id="rId2"/>
    <p:sldId id="274" r:id="rId3"/>
    <p:sldId id="273" r:id="rId4"/>
    <p:sldId id="271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05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9 test cases passed. The system correctly classifies all light conditions and responds with the right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49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outline of our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43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outline of our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embedded systems must respond automatically to environmental light. Street lights, room lighting, and solar lamps all benefit from automatic control. An LDR in a voltage divider provides an analog voltage that the ATmega32 ADC can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follows a simple chain: LDR produces analog voltage, ATmega32 ADC reads it, classifies light level, and drives the appropriate output. The LCD shows live ADC value and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components are standard through-hole parts used in both the KiCad schematic and SimulIDE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covers all ATmega32 pins used in the project. PORTA is configured as input (DDRA=0x00), PORTB as output (DDRB=0x1F), and PORTD as output (DDRD=0xFF) for the LCD.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10-bit ADC gives values from 0 to 1023. Three thresholds divide the range into four regions. Higher ADC = brighter light. Thresholds are defined as #define constants in firmware for easy adjustment.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Firmware written in C using MPLAB X IDE v6.25 with AVR-GCC. The main loop continuously reads ADC, checks for errors, checks the button, then classifies light and controls all outputs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firmware has three main states: Automatic (default), Manual Override (SW1), and Error. Hardware reset (SW2) returns to startup, clearing all state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Schematic designed in KiCad 10. All components from Device library. ERC and DRC passed. Gerber files exported for PCB fabrication.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8 test cases verified in SimulIDE. Potentiometer used to simulate variable light levels. Screenshots for each test case saved in simulide/screenshots/ in the GitHub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placeholders with actual SimulIDE screenshots for each test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9 test cases passed. The system correctly classifies all light conditions and responds with the right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 follows the exact structure from the project brief. All files committed with meaningful commit messages. GitHub link shared with instructor.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2CE5CC-B153-4067-B934-9C0B8AF86D3F}"/>
              </a:ext>
            </a:extLst>
          </p:cNvPr>
          <p:cNvSpPr txBox="1"/>
          <p:nvPr/>
        </p:nvSpPr>
        <p:spPr>
          <a:xfrm>
            <a:off x="1052286" y="1698172"/>
            <a:ext cx="8679543" cy="78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>
              <a:lnSpc>
                <a:spcPct val="107000"/>
              </a:lnSpc>
              <a:spcAft>
                <a:spcPts val="920"/>
              </a:spcAft>
            </a:pPr>
            <a:r>
              <a:rPr lang="en-GB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Project 18: LDR-Based Automatic Lighting Control System</a:t>
            </a:r>
          </a:p>
          <a:p>
            <a:pPr marL="6350" indent="-6350">
              <a:lnSpc>
                <a:spcPct val="107000"/>
              </a:lnSpc>
              <a:spcAft>
                <a:spcPts val="920"/>
              </a:spcAft>
            </a:pPr>
            <a:r>
              <a:rPr lang="en-GB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CT 321</a:t>
            </a:r>
            <a:r>
              <a:rPr lang="en-GB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 MICROCONTROLLER</a:t>
            </a:r>
            <a:r>
              <a:rPr lang="en-GB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GB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579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 —  Test Results Summary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074463"/>
              </p:ext>
            </p:extLst>
          </p:nvPr>
        </p:nvGraphicFramePr>
        <p:xfrm>
          <a:off x="274320" y="1005840"/>
          <a:ext cx="8595360" cy="39319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Startup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LIGHT / SYSTEM 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LIGHT / SYSTEM 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 value on LCD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value displayed correctly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 ON, Lamp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 ON, Lamp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Red, Lamp ON, Buzzer beep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Red, Lamp ON, Buzzer beep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Override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 toggles manually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 toggles on button 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indication + buzzer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ERROR! on LCD + buzzer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to automatic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restarts, auto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035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0515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10515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8562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18562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&amp; Block Diagram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60904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266090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0432" y="26609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46557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70432" y="34655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 Pin Mapping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7024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42702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32" y="42702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Threshold Classification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6048" y="10515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59552" y="10515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Architecture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856232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18562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59552" y="18562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Schematic &amp; PCB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660904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56048" y="266090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59552" y="26609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 Simulation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46557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56048" y="346557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59552" y="34655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427024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56048" y="42702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59552" y="42702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5693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F931D9-7DE5-4F54-9E7C-29E777B96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072468"/>
              </p:ext>
            </p:extLst>
          </p:nvPr>
        </p:nvGraphicFramePr>
        <p:xfrm>
          <a:off x="628649" y="689429"/>
          <a:ext cx="8036380" cy="3854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8190">
                  <a:extLst>
                    <a:ext uri="{9D8B030D-6E8A-4147-A177-3AD203B41FA5}">
                      <a16:colId xmlns:a16="http://schemas.microsoft.com/office/drawing/2014/main" val="83693468"/>
                    </a:ext>
                  </a:extLst>
                </a:gridCol>
                <a:gridCol w="4018190">
                  <a:extLst>
                    <a:ext uri="{9D8B030D-6E8A-4147-A177-3AD203B41FA5}">
                      <a16:colId xmlns:a16="http://schemas.microsoft.com/office/drawing/2014/main" val="4270497098"/>
                    </a:ext>
                  </a:extLst>
                </a:gridCol>
              </a:tblGrid>
              <a:tr h="770899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Students Name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j-lt"/>
                        </a:rPr>
                        <a:t>Registration Numbers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618972"/>
                  </a:ext>
                </a:extLst>
              </a:tr>
              <a:tr h="770899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GILBERT LUNYUNGU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T23-03-11601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978406"/>
                  </a:ext>
                </a:extLst>
              </a:tr>
              <a:tr h="770899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ZUWENA SANIRA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T23-03-11707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323889"/>
                  </a:ext>
                </a:extLst>
              </a:tr>
              <a:tr h="770899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IRENE KISABWE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T23-03-10157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343684"/>
                  </a:ext>
                </a:extLst>
              </a:tr>
              <a:tr h="770899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JOSBERT BAINGANA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T23-03-13089</a:t>
                      </a:r>
                      <a:endParaRPr lang="en-TZ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031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876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0515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10515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8562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18562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&amp; Block Diagram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60904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266090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0432" y="26609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46557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70432" y="34655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 Pin Mapping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7024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42702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0432" y="42702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Threshold Classification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6048" y="10515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59552" y="10515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Architecture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856232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18562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59552" y="18562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Schematic &amp; PCB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660904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56048" y="266090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59552" y="26609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 Simulation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465576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56048" y="346557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59552" y="34655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4270248"/>
            <a:ext cx="402336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56048" y="42702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59552" y="42702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— 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216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Lighting Control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lighting systems require a person to manually switch lights on or off. This is inconvenient, error-prone, and leads to unnecessary energy consumption.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5156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01768" y="1216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Environmental Awareness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01768" y="1645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without sensors cannot respond to changing ambient light — such as day-to-night transitions, cloud cover, or indoor dimming — without human intervention.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53512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3118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Waste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54787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left on during bright conditions waste electricity. Automatic sensing and switching can significantly reduce power consumption in homes, offices, and public spaces.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953512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01768" y="3118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Solution Needed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01768" y="354787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ATmega32 ADC can read the analog voltage from an LDR voltage divider and make real-time decisions to control lighting outputs automatically without any human input.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—  System Overview &amp; Block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Level  →  Analog Voltage  →  ADC Conversion  →  Threshold Decision  →  Output Control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783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+ 10kΩ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Divider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2121408"/>
            <a:ext cx="457200" cy="0"/>
          </a:xfrm>
          <a:prstGeom prst="line">
            <a:avLst/>
          </a:prstGeom>
          <a:noFill/>
          <a:ln w="25400">
            <a:solidFill>
              <a:srgbClr val="D0D6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6002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6002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ATmega32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ADC + Logic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16MHz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121408"/>
            <a:ext cx="457200" cy="0"/>
          </a:xfrm>
          <a:prstGeom prst="line">
            <a:avLst/>
          </a:prstGeom>
          <a:noFill/>
          <a:ln w="25400">
            <a:solidFill>
              <a:srgbClr val="D0D6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7830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1783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0175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(Bright)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2468880"/>
            <a:ext cx="0" cy="54864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30175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B5850A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0" y="30175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(Medium)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2468880"/>
            <a:ext cx="0" cy="54864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30175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8B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30175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 / Dark)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2468880"/>
            <a:ext cx="0" cy="54864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30175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2A3D8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30175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(Lamp ON/OFF)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2468880"/>
            <a:ext cx="0" cy="54864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301752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4A1A6A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30175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(Very Dark)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2468880"/>
            <a:ext cx="1508760" cy="54864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97764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39776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 (16x2)  —  Shows ADC value + Light condition status on both lines in real time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—  Hardware Components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65960" y="10241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 — 40-pin DIP, Harvard architecture, 16MHz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1024128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2412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(LDR03)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0241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Light-dependent resistor — resistance changes with light intensity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81051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65960" y="18105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10kΩ voltage divider, 220Ω LED limiting, 1kΩ transistor base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810512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81051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BC547 NPN ×2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8105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 drivers for relay coil and buzzer activation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596896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59689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SPDT 5V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65960" y="259689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Electrically isolates and switches the external lamp circuit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596896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59689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×3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59689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(bright), Yellow (medium), Red (low/dark) status indicators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3832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AudioOut / Buzzer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65960" y="33832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very low light condition — short 200ms beep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383280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33832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WC1602A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3832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character display — shows ADC value and light status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169664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16966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Buttons ×2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65960" y="416966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SW1: manual override toggle  |  SW2: hardware reset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4169664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37760" y="416966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16MHz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416966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clock source with 22pF load capacitors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956048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495604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Capacitors 100nF ×4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65960" y="495604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on VCC, AVCC, AREF, and reset pin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4956048"/>
            <a:ext cx="4160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37760" y="495604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Power Supply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95604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supply powering ATmega32 and all peripherals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Add photo of your actual components here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—  ATmega32 Pin Mapping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9319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ATmega32 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PA0 / ADC0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 Voltage Divider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LDR_ADC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Override Button (SW1)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BTN_OVERRIDE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 via 220Ω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LED_DARK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LED via 220Ω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LED_MEDIUM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 via 220Ω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LED_BRIGHT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 Relay via BC547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LAMP_OUT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 via BC547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LCD_RS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LCD_EN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PD4–PD7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Data D4–D7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LCD_D4–D7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Button (SW2)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—  ADC Threshold Classification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8755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 ADC  |  10-bit resolution  |  Range: 0 – 1023  |  Reference: AVcc (5V)  |  Channel: ADC0 (PA0)  |  Prescaler: 64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EBF5EB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00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322576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Range: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23225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&gt; 800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79806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79806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3.92V – 5.0V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3273552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327355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 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74904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374904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OFF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4224528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422452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87168" y="160020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EF9E7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87168" y="16002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B5850A"/>
          </a:solidFill>
          <a:ln/>
        </p:spPr>
      </p:sp>
      <p:sp>
        <p:nvSpPr>
          <p:cNvPr id="21" name="Text 19"/>
          <p:cNvSpPr/>
          <p:nvPr/>
        </p:nvSpPr>
        <p:spPr>
          <a:xfrm>
            <a:off x="2487168" y="1600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96896" y="2322576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Range: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23225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601 – 800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96896" y="279806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01568" y="279806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2.94V – 3.91V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96896" y="3273552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01568" y="327355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LED 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96896" y="374904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01568" y="374904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OFF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96896" y="4224528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8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01568" y="422452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08576" y="160020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DECEA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08576" y="16002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8B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4608576" y="1600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18304" y="2322576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Range: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22976" y="23225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401 – 600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18304" y="279806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22976" y="279806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1.96V – 2.93V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18304" y="3273552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22976" y="327355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374904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22976" y="374904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18304" y="4224528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22976" y="422452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29984" y="1600200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3EE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29984" y="16002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4A1A6A"/>
          </a:solidFill>
          <a:ln/>
        </p:spPr>
      </p:sp>
      <p:sp>
        <p:nvSpPr>
          <p:cNvPr id="47" name="Text 45"/>
          <p:cNvSpPr/>
          <p:nvPr/>
        </p:nvSpPr>
        <p:spPr>
          <a:xfrm>
            <a:off x="6729984" y="1600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LOW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839712" y="2322576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Range: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644384" y="232257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&lt; 400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39712" y="2798064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644384" y="2798064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0V – 1.96V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39712" y="3273552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644384" y="3273552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39712" y="3749040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Lamp: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644384" y="374904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39712" y="4224528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644384" y="422452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beep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873752"/>
            <a:ext cx="8412480" cy="137160"/>
          </a:xfrm>
          <a:prstGeom prst="roundRect">
            <a:avLst>
              <a:gd name="adj" fmla="val 26667"/>
            </a:avLst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—  Firmware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ADC Initialization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463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ADMUX: AVcc reference, ADC0 channel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ADCSRA: Enable, prescaler 64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ReadADC(0) called every loop iteration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GPIO Configuration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65192" y="1463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DDRA = 0x00  — PA0 ADC in, PA1 button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DDRB = 0x1F  — PB0–PB4 outputs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DDRD = 0xFF  — Full PORTD for LCD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423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Logic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788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(light &gt; BRIGHT_TH) → Green LED, lamp 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(light &gt; MEDIUM_TH) → Yellow LED, lamp 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(light &gt; LOW_TH) → Red LED, lamp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→ Red LED, lamp on, buzzer beep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233172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65192" y="2423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Override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5192" y="2788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Edge-detected PA1 button (debounced 20ms)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press: enters MANUAL MODE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presses: toggle lamp ON/OFF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Reset (SW2): returns to AUTO MODE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3749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Error Detection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4114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≤ 5 or ADC ≥ 1018 → error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+ buzzer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LCD: SENSOR ERROR! / Check LDR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(skips threshold logic)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657600"/>
            <a:ext cx="4160520" cy="1188720"/>
          </a:xfrm>
          <a:prstGeom prst="roundRect">
            <a:avLst>
              <a:gd name="adj" fmla="val 692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65192" y="3749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LCD Output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65192" y="4114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ADC: [value]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2: BRIGHT/MEDIUM/LOW/V.LOW LAMP:ON/OFF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state: SENSOR ERROR! / Check LDR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MANUAL MODE / LAMP: ON or OFF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MPLAB X IDE v6.25  |  Compiler: AVR-GCC  |  Language: C  |  F_CPU: 16000000UL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—  Firmware State Machine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1005840"/>
            <a:ext cx="2194560" cy="65836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0058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664208"/>
            <a:ext cx="0" cy="274320"/>
          </a:xfrm>
          <a:prstGeom prst="line">
            <a:avLst/>
          </a:prstGeom>
          <a:noFill/>
          <a:ln w="25400">
            <a:solidFill>
              <a:srgbClr val="D0D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938528"/>
            <a:ext cx="2194560" cy="658368"/>
          </a:xfrm>
          <a:prstGeom prst="roundRect">
            <a:avLst>
              <a:gd name="adj" fmla="val 12500"/>
            </a:avLst>
          </a:prstGeom>
          <a:solidFill>
            <a:srgbClr val="2A5CAA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9385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ADC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PA0 / ADC0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596896"/>
            <a:ext cx="0" cy="274320"/>
          </a:xfrm>
          <a:prstGeom prst="line">
            <a:avLst/>
          </a:prstGeom>
          <a:noFill/>
          <a:ln w="25400">
            <a:solidFill>
              <a:srgbClr val="D0D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871216"/>
            <a:ext cx="2194560" cy="658368"/>
          </a:xfrm>
          <a:prstGeom prst="roundRect">
            <a:avLst>
              <a:gd name="adj" fmla="val 12500"/>
            </a:avLst>
          </a:prstGeom>
          <a:solidFill>
            <a:srgbClr val="4A556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8712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BUTTON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 PA1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3529584"/>
            <a:ext cx="0" cy="256032"/>
          </a:xfrm>
          <a:prstGeom prst="line">
            <a:avLst/>
          </a:prstGeom>
          <a:noFill/>
          <a:ln w="25400">
            <a:solidFill>
              <a:srgbClr val="D0D6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785616"/>
            <a:ext cx="2011680" cy="749808"/>
          </a:xfrm>
          <a:prstGeom prst="roundRect">
            <a:avLst>
              <a:gd name="adj" fmla="val 10976"/>
            </a:avLst>
          </a:prstGeom>
          <a:solidFill>
            <a:srgbClr val="8B1A1A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3785616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ERROR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LCD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3785616"/>
            <a:ext cx="2194560" cy="749808"/>
          </a:xfrm>
          <a:prstGeom prst="roundRect">
            <a:avLst>
              <a:gd name="adj" fmla="val 10976"/>
            </a:avLst>
          </a:prstGeom>
          <a:solidFill>
            <a:srgbClr val="2D6A4F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378561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+ Outputs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3785616"/>
            <a:ext cx="2011680" cy="749808"/>
          </a:xfrm>
          <a:prstGeom prst="roundRect">
            <a:avLst>
              <a:gd name="adj" fmla="val 10976"/>
            </a:avLst>
          </a:prstGeom>
          <a:solidFill>
            <a:srgbClr val="4A1A6A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3785616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Lamp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785616"/>
            <a:ext cx="0" cy="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3785616"/>
            <a:ext cx="0" cy="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785616"/>
            <a:ext cx="2834640" cy="0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" y="3566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≤5 or ≥1018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20840" y="3566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1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pressed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4535424"/>
            <a:ext cx="0" cy="347472"/>
          </a:xfrm>
          <a:prstGeom prst="line">
            <a:avLst/>
          </a:prstGeom>
          <a:noFill/>
          <a:ln w="12700">
            <a:solidFill>
              <a:srgbClr val="D0D6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5902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every 500ms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 —  KiCad Schematic &amp; PCB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274320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4160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60520" cy="274320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1005840"/>
            <a:ext cx="4160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79476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10 — Schematic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379476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10 — PCB Layout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18795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ERC passed — 0 violations after no-connect flags placed on unused pins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437083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DRC passed — all clearance and routing rules satisfied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55371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footprints assigned — THT packages for all components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7365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Gerber files generated — ready for PCB fabrication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 labels used — LDR_ADC, BTN_OVERRIDE, LAMP_OUT, BUZZER, LED_BRIGHT/MEDIUM/DARK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DBC846-88D7-448F-ACB9-FBD6D7F7C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160520" cy="27431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369E69-4639-4DA3-B55C-81116CA60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686" y="1042443"/>
            <a:ext cx="4108994" cy="27248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—  SimulIDE Simulation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097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Startup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444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LCD: SMART LIGHT / SYSTEM READY — 2 seconds then auto mode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097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 Condition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65192" y="1444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high → ADC &gt; 800 → Green LED ON, Relay OFF, LCD: BRIGHT LAMP:OFF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8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Condition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mid-high → ADC 601–800 → Yellow LED ON, Relay OFF, LCD: MEDIUM LAMP:OFF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2029968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65192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Condition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5192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mid-low → ADC 401–600 → Red LED ON, Relay ON, LCD: LOW LAMP:ON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54096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31455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Low / Dark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3493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minimum → ADC &lt; 400 → Red LED, Relay ON, Buzzer beep, LCD: V.LOW LAMP:ON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054096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65192" y="31455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C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Override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65192" y="3493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 press → MANUAL MODE. Next press toggles lamp ON/OFF independently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078224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41696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Error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4517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ADC wire → ADC ≤ 5 → LCD: SENSOR ERROR! / Check LDR + buzzer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4078224"/>
            <a:ext cx="4160520" cy="877824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65192" y="41696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Operation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5192" y="4517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 pressed → Hardware reset → Startup message → Returns to AUTO MODE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 potentiometer was used in place of the LDR in SimulIDE, as the LDR03 model does not vary resistance with lux — this is permitted per the project brief.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—  Simulation Screenshots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78308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4160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81635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Condition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160520" cy="178308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005840"/>
            <a:ext cx="4160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9160" y="281635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Condition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4160520" cy="178308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3017520"/>
            <a:ext cx="4160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82803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Condition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3017520"/>
            <a:ext cx="4160520" cy="178308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3017520"/>
            <a:ext cx="41605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482803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+ Buzzer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772BAA-B034-47E2-96FC-7EC99E86D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30" y="1004823"/>
            <a:ext cx="4225110" cy="17830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4B13DAB-20A3-48AD-86EE-40346B690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04823"/>
            <a:ext cx="4225110" cy="178409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5DEA3AD-D955-456D-9018-278C83671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19" y="3044952"/>
            <a:ext cx="4160521" cy="175564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5F25FF0-C4DF-47D5-A498-6621709C57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017520"/>
            <a:ext cx="422511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 —  Test Results Summary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9319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Startup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LIGHT / SYSTEM 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LIGHT / SYSTEM 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 value on LCD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value displayed correctly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LED ON, Lamp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 ON, Lamp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 ON, Lamp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Red, Lamp ON, Buzzer beep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Red, Lamp ON, Buzzer beep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Override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 toggles manually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 toggles on button 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indication + buzzer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ERROR! on LCD + buzzer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to automatic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restarts, auto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5303520" cy="3493008"/>
          </a:xfrm>
          <a:prstGeom prst="roundRect">
            <a:avLst>
              <a:gd name="adj" fmla="val 3141"/>
            </a:avLst>
          </a:prstGeom>
          <a:solidFill>
            <a:srgbClr val="0D1117"/>
          </a:solidFill>
          <a:ln/>
          <a:effectLst>
            <a:outerShdw blurRad="762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ATmega32_LDR_Automatic_Lighting/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721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firmware/src/main.c  |  lcd.h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hex/ATmega32_LDR.hex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597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kicad/schematic/  |  pcb/  |  gerber/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simulide/circuit/  |  screenshots/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181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documentation/pin_mapping_table.md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472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adc_threshold_table.md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7764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test_results.md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1056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media/demonstration_video_link.txt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987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Commits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2160" y="14173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371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project structure created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52160" y="18745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828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ADC firmware for LDR reading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52160" y="23317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2286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threshold decision logic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52160" y="27889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2743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manual override function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52160" y="32461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32004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KiCad schematic design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52160" y="37033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36576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PCB layout and Gerber files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52160" y="41605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4114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SimulIDE simulation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52160" y="4617720"/>
            <a:ext cx="164592" cy="164592"/>
          </a:xfrm>
          <a:prstGeom prst="ellipse">
            <a:avLst/>
          </a:prstGeom>
          <a:solidFill>
            <a:srgbClr val="2A5CAA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4572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test results and documentation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2106</Words>
  <Application>Microsoft Office PowerPoint</Application>
  <PresentationFormat>On-screen Show (16:9)</PresentationFormat>
  <Paragraphs>425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ATmega32 LDR-Based Automatic Lighting Control System</dc:title>
  <dc:subject>PptxGenJS Presentation</dc:subject>
  <dc:creator>PptxGenJS</dc:creator>
  <cp:lastModifiedBy>Josbertbaingana2002@gmail.com</cp:lastModifiedBy>
  <cp:revision>7</cp:revision>
  <dcterms:created xsi:type="dcterms:W3CDTF">2026-07-01T19:39:44Z</dcterms:created>
  <dcterms:modified xsi:type="dcterms:W3CDTF">2026-07-11T11:39:28Z</dcterms:modified>
</cp:coreProperties>
</file>